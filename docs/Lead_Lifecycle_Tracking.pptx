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61" r:id="rId10"/>
    <p:sldId id="262" r:id="rId11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slides: the lifecycle with two parallel lanes, the effort-vs-conversion split at hour 48, and the safeguards plus what we still cannot measure.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 TOP lane first — what the lead is doing. Then the BOTTOM lane — what we watch for at that same moment. Every check is the mirror of a funnel step: should be claimed by minute 10, should be moving through the working window, should be closed by hour 48. Caveat if asked: the top lane is the INTENDED flow. We cannot observe "claimed at minute 10" because there is no assignment_time field — everything is measured from creation. Same gap flagged on the last slide.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read all seven aloud. Name them, then spend the time on rows 5 and 6 — both fire at hour 48 and look identical in a report, but one means effort is missing (an activity conversation) and the other means effort happened without converting (lead quality, pricing, or the project). Row 7 is the odd one out: a systems fault, kept outside the performance checks.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covered: Rule 3 (log every attempt) has no check. Rule 6 (same-day escalation) is partial — the board identifies who to escalate and drafts the emails, but does not send them.</a:t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ask: all three are fields in the CRM export. Adding them would do more than any further work on the dashboard.</a:t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asks: add assignment_time and opportunity_created_at to the CRM export, and decide on moving hosting so the sheet can be made private.</a:t>
            </a:r>
            <a:endParaRPr/>
          </a:p>
        </p:txBody>
      </p:sp>
      <p:sp>
        <p:nvSpPr>
          <p:cNvPr id="168" name="Google Shape;1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35468C"/>
          </a:solidFill>
          <a:ln cap="flat" cmpd="sng" w="12700">
            <a:solidFill>
              <a:srgbClr val="354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881360" y="4663440"/>
            <a:ext cx="2926080" cy="2926080"/>
          </a:xfrm>
          <a:prstGeom prst="ellipse">
            <a:avLst/>
          </a:prstGeom>
          <a:solidFill>
            <a:srgbClr val="35468C"/>
          </a:solidFill>
          <a:ln cap="flat" cmpd="sng" w="12700">
            <a:solidFill>
              <a:srgbClr val="354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50" y="2057400"/>
            <a:ext cx="8686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Tracking a Google Lead Through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Its Lifecycle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39776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How we monitor each lead — and the reasoning behind every rule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4846320"/>
            <a:ext cx="1097280" cy="32004"/>
          </a:xfrm>
          <a:prstGeom prst="rect">
            <a:avLst/>
          </a:prstGeom>
          <a:solidFill>
            <a:srgbClr val="D2761F"/>
          </a:solidFill>
          <a:ln cap="flat" cmpd="sng" w="12700">
            <a:solidFill>
              <a:srgbClr val="D276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Founders’ Office  |  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0080" y="34747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lead’s life, and what we ask at each stage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93268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Two parallel tracks: the lead moving through the funnel, and the checks watching it as it goes.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48132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LEAD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396849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761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2761F"/>
                </a:solidFill>
                <a:latin typeface="Calibri"/>
                <a:ea typeface="Calibri"/>
                <a:cs typeface="Calibri"/>
                <a:sym typeface="Calibri"/>
              </a:rPr>
              <a:t>WE CHECK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572768" y="3346704"/>
            <a:ext cx="9098280" cy="27432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94944" y="181051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2700">
            <a:solidFill>
              <a:srgbClr val="E2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68096" y="190195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Created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routed to several 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94944" y="2889504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MINUTE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426464" y="3209544"/>
            <a:ext cx="292608" cy="292608"/>
          </a:xfrm>
          <a:prstGeom prst="ellipse">
            <a:avLst/>
          </a:prstGeom>
          <a:solidFill>
            <a:srgbClr val="1E2761"/>
          </a:solidFill>
          <a:ln cap="flat" cmpd="sng" w="3175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94944" y="427939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DF4EA"/>
          </a:solidFill>
          <a:ln cap="flat" cmpd="sng" w="12700">
            <a:solidFill>
              <a:srgbClr val="F0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68096" y="437083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Clock starts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514600" y="181051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2700">
            <a:solidFill>
              <a:srgbClr val="E2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587752" y="190195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still with multiple 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514600" y="2889504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761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761F"/>
                </a:solidFill>
                <a:latin typeface="Calibri"/>
                <a:ea typeface="Calibri"/>
                <a:cs typeface="Calibri"/>
                <a:sym typeface="Calibri"/>
              </a:rPr>
              <a:t>MINUTE 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246120" y="3209544"/>
            <a:ext cx="292608" cy="292608"/>
          </a:xfrm>
          <a:prstGeom prst="ellipse">
            <a:avLst/>
          </a:prstGeom>
          <a:solidFill>
            <a:srgbClr val="D2761F"/>
          </a:solidFill>
          <a:ln cap="flat" cmpd="sng" w="3175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514600" y="427939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DF4EA"/>
          </a:solidFill>
          <a:ln cap="flat" cmpd="sng" w="12700">
            <a:solidFill>
              <a:srgbClr val="F0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587752" y="437083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Not Connected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in 10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334256" y="181051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2700">
            <a:solidFill>
              <a:srgbClr val="E2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07408" y="190195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Not Updated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→ Suspect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334256" y="2889504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468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5468C"/>
                </a:solidFill>
                <a:latin typeface="Calibri"/>
                <a:ea typeface="Calibri"/>
                <a:cs typeface="Calibri"/>
                <a:sym typeface="Calibri"/>
              </a:rPr>
              <a:t>HOUR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065776" y="3209544"/>
            <a:ext cx="292608" cy="292608"/>
          </a:xfrm>
          <a:prstGeom prst="ellipse">
            <a:avLst/>
          </a:prstGeom>
          <a:solidFill>
            <a:srgbClr val="35468C"/>
          </a:solidFill>
          <a:ln cap="flat" cmpd="sng" w="3175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334256" y="427939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DF4EA"/>
          </a:solidFill>
          <a:ln cap="flat" cmpd="sng" w="12700">
            <a:solidFill>
              <a:srgbClr val="F0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407408" y="437083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Grace ends 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all checks switch 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153912" y="181051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2700">
            <a:solidFill>
              <a:srgbClr val="E2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227064" y="190195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Suspect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→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one RM claims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153912" y="2889504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HOURS 3–48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885432" y="3209544"/>
            <a:ext cx="292608" cy="292608"/>
          </a:xfrm>
          <a:prstGeom prst="ellipse">
            <a:avLst/>
          </a:prstGeom>
          <a:solidFill>
            <a:srgbClr val="1E2761"/>
          </a:solidFill>
          <a:ln cap="flat" cmpd="sng" w="3175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153912" y="427939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DF4EA"/>
          </a:solidFill>
          <a:ln cap="flat" cmpd="sng" w="12700">
            <a:solidFill>
              <a:srgbClr val="F0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227064" y="437083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Not Updated · Under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Calls · Follow-up 4h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973568" y="181051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2700">
            <a:solidFill>
              <a:srgbClr val="E2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046720" y="190195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Closure due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per SOP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973568" y="2889504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761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2761F"/>
                </a:solidFill>
                <a:latin typeface="Calibri"/>
                <a:ea typeface="Calibri"/>
                <a:cs typeface="Calibri"/>
                <a:sym typeface="Calibri"/>
              </a:rPr>
              <a:t>HOUR 48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705088" y="3209544"/>
            <a:ext cx="292608" cy="292608"/>
          </a:xfrm>
          <a:prstGeom prst="ellipse">
            <a:avLst/>
          </a:prstGeom>
          <a:solidFill>
            <a:srgbClr val="D2761F"/>
          </a:solidFill>
          <a:ln cap="flat" cmpd="sng" w="3175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973568" y="427939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DF4EA"/>
          </a:solidFill>
          <a:ln cap="flat" cmpd="sng" w="12700">
            <a:solidFill>
              <a:srgbClr val="F0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046720" y="437083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Under 10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· Stuck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793224" y="181051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12700">
            <a:solidFill>
              <a:srgbClr val="E2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866376" y="190195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Opportunity+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or Closed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9793224" y="2889504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7A5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7A5A"/>
                </a:solidFill>
                <a:latin typeface="Calibri"/>
                <a:ea typeface="Calibri"/>
                <a:cs typeface="Calibri"/>
                <a:sym typeface="Calibri"/>
              </a:rPr>
              <a:t>EXIT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524744" y="3209544"/>
            <a:ext cx="292608" cy="292608"/>
          </a:xfrm>
          <a:prstGeom prst="ellipse">
            <a:avLst/>
          </a:prstGeom>
          <a:solidFill>
            <a:srgbClr val="2C7A5A"/>
          </a:solidFill>
          <a:ln cap="flat" cmpd="sng" w="3175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9793224" y="4279392"/>
            <a:ext cx="1755648" cy="969264"/>
          </a:xfrm>
          <a:prstGeom prst="roundRect">
            <a:avLst>
              <a:gd fmla="val 7547" name="adj"/>
            </a:avLst>
          </a:prstGeom>
          <a:solidFill>
            <a:srgbClr val="FDF4EA"/>
          </a:solidFill>
          <a:ln cap="flat" cmpd="sng" w="12700">
            <a:solidFill>
              <a:srgbClr val="F0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866376" y="4370832"/>
            <a:ext cx="16093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Tracking stops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0080" y="5486400"/>
            <a:ext cx="10881360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2700">
            <a:solidFill>
              <a:srgbClr val="E2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14400" y="5687568"/>
            <a:ext cx="365760" cy="365760"/>
          </a:xfrm>
          <a:prstGeom prst="ellipse">
            <a:avLst/>
          </a:prstGeom>
          <a:solidFill>
            <a:srgbClr val="35468C"/>
          </a:solidFill>
          <a:ln cap="flat" cmpd="sng" w="12700">
            <a:solidFill>
              <a:srgbClr val="354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14400" y="5705856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417320" y="5715000"/>
            <a:ext cx="9829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Recording Not Working</a:t>
            </a:r>
            <a:r>
              <a:rPr b="0" i="0" lang="en-US" sz="12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  —  this one sits outside the timeline. If a lead has comments but zero calls logged, someone clearly worked it and the call system failed to record it. Reported separately, and never counted against an RM.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640080" y="411480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Seven checks, seven different questions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0080" y="1060704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Each metric catches a distinct failure — and each one asks something the others can’t.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0080" y="162763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170432" y="162763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675888" y="1627632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SOP RULE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754880" y="162763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FIRES WHEN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516368" y="162763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WHAT IT TELLS YOU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40080" y="1938528"/>
            <a:ext cx="10835640" cy="1371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0080" y="1993392"/>
            <a:ext cx="10835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94944" y="2121408"/>
            <a:ext cx="274320" cy="2743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94944" y="213969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170432" y="1993392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Not Updated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675888" y="2121408"/>
            <a:ext cx="841248" cy="274320"/>
          </a:xfrm>
          <a:prstGeom prst="roundRect">
            <a:avLst>
              <a:gd fmla="val 20000" name="adj"/>
            </a:avLst>
          </a:prstGeom>
          <a:solidFill>
            <a:srgbClr val="E6E9EF"/>
          </a:solidFill>
          <a:ln cap="flat" cmpd="sng" w="12700">
            <a:solidFill>
              <a:srgbClr val="E6E9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675888" y="2130552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Derived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754880" y="1993392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Stage never moved since import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516368" y="1993392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Nobody opened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2560320"/>
            <a:ext cx="10835640" cy="530352"/>
          </a:xfrm>
          <a:prstGeom prst="rect">
            <a:avLst/>
          </a:prstGeom>
          <a:solidFill>
            <a:srgbClr val="EEF2F9"/>
          </a:solidFill>
          <a:ln cap="flat" cmpd="sng" w="12700">
            <a:solidFill>
              <a:srgbClr val="EEF2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94944" y="2688336"/>
            <a:ext cx="274320" cy="2743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94944" y="270662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170432" y="2560320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Not Connected in 10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675888" y="2688336"/>
            <a:ext cx="841248" cy="274320"/>
          </a:xfrm>
          <a:prstGeom prst="roundRect">
            <a:avLst>
              <a:gd fmla="val 20000" name="adj"/>
            </a:avLst>
          </a:prstGeom>
          <a:solidFill>
            <a:srgbClr val="DCE6F5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675888" y="269748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Rule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754880" y="256032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 calls, 10+ working minutes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516368" y="2560320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Nobody picked it up at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40080" y="3127248"/>
            <a:ext cx="10835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94944" y="3255264"/>
            <a:ext cx="274320" cy="2743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94944" y="3273552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170432" y="3127248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Follow-up Overdue (4h)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675888" y="3255264"/>
            <a:ext cx="841248" cy="274320"/>
          </a:xfrm>
          <a:prstGeom prst="roundRect">
            <a:avLst>
              <a:gd fmla="val 20000" name="adj"/>
            </a:avLst>
          </a:prstGeom>
          <a:solidFill>
            <a:srgbClr val="DCE6F5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675888" y="3264408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Rule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754880" y="3127248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Connected, no comment for 4h+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516368" y="3127248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A worked lead has gone quiet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0080" y="3694176"/>
            <a:ext cx="10835640" cy="530352"/>
          </a:xfrm>
          <a:prstGeom prst="rect">
            <a:avLst/>
          </a:prstGeom>
          <a:solidFill>
            <a:srgbClr val="EEF2F9"/>
          </a:solidFill>
          <a:ln cap="flat" cmpd="sng" w="12700">
            <a:solidFill>
              <a:srgbClr val="EEF2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94944" y="3822192"/>
            <a:ext cx="274320" cy="2743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94944" y="3840480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170432" y="3694176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New Today — Under 5 Calls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75888" y="3822192"/>
            <a:ext cx="841248" cy="274320"/>
          </a:xfrm>
          <a:prstGeom prst="roundRect">
            <a:avLst>
              <a:gd fmla="val 20000" name="adj"/>
            </a:avLst>
          </a:prstGeom>
          <a:solidFill>
            <a:srgbClr val="DCE6F5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675888" y="3831336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Rule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54880" y="3694176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Created today, 3h+ old, &lt;5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516368" y="3694176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Persistence rule not being met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80" y="4261104"/>
            <a:ext cx="108356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94944" y="4389120"/>
            <a:ext cx="274320" cy="2743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94944" y="440740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170432" y="4261104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Open 48h+ — Under 10 Calls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675888" y="4389120"/>
            <a:ext cx="841248" cy="274320"/>
          </a:xfrm>
          <a:prstGeom prst="roundRect">
            <a:avLst>
              <a:gd fmla="val 20000" name="adj"/>
            </a:avLst>
          </a:prstGeom>
          <a:solidFill>
            <a:srgbClr val="DCE6F5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675888" y="4398264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Rules 2+5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754880" y="4261104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Past 48h, still open, &lt;10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516368" y="4261104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Effort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0080" y="4828032"/>
            <a:ext cx="10835640" cy="530352"/>
          </a:xfrm>
          <a:prstGeom prst="rect">
            <a:avLst/>
          </a:prstGeom>
          <a:solidFill>
            <a:srgbClr val="EEF2F9"/>
          </a:solidFill>
          <a:ln cap="flat" cmpd="sng" w="12700">
            <a:solidFill>
              <a:srgbClr val="EEF2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94944" y="4956048"/>
            <a:ext cx="274320" cy="2743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94944" y="4974336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70432" y="4828032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Stuck — Open 48h+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675888" y="4956048"/>
            <a:ext cx="841248" cy="274320"/>
          </a:xfrm>
          <a:prstGeom prst="roundRect">
            <a:avLst>
              <a:gd fmla="val 20000" name="adj"/>
            </a:avLst>
          </a:prstGeom>
          <a:solidFill>
            <a:srgbClr val="DCE6F5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675888" y="4965192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Rule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54880" y="4828032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Past 48h, still below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516368" y="4828032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Effort happened, it isn’t converting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40080" y="5394960"/>
            <a:ext cx="10835640" cy="530352"/>
          </a:xfrm>
          <a:prstGeom prst="rect">
            <a:avLst/>
          </a:prstGeom>
          <a:solidFill>
            <a:srgbClr val="FDF4EA"/>
          </a:solidFill>
          <a:ln cap="flat" cmpd="sng" w="12700">
            <a:solidFill>
              <a:srgbClr val="FDF4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94944" y="5522976"/>
            <a:ext cx="274320" cy="274320"/>
          </a:xfrm>
          <a:prstGeom prst="ellipse">
            <a:avLst/>
          </a:prstGeom>
          <a:solidFill>
            <a:srgbClr val="D2761F"/>
          </a:solidFill>
          <a:ln cap="flat" cmpd="sng" w="12700">
            <a:solidFill>
              <a:srgbClr val="D276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94944" y="5541264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70432" y="5394960"/>
            <a:ext cx="2395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Recording Not Working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75888" y="5522976"/>
            <a:ext cx="841248" cy="274320"/>
          </a:xfrm>
          <a:prstGeom prst="roundRect">
            <a:avLst>
              <a:gd fmla="val 20000" name="adj"/>
            </a:avLst>
          </a:prstGeom>
          <a:solidFill>
            <a:srgbClr val="F0DCC4"/>
          </a:solidFill>
          <a:ln cap="flat" cmpd="sng" w="12700">
            <a:solidFill>
              <a:srgbClr val="F0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675888" y="5532120"/>
            <a:ext cx="8412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4A1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4A12"/>
                </a:solidFill>
                <a:latin typeface="Calibri"/>
                <a:ea typeface="Calibri"/>
                <a:cs typeface="Calibri"/>
                <a:sym typeface="Calibri"/>
              </a:rPr>
              <a:t>Not SOP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754880" y="5394960"/>
            <a:ext cx="2651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32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4326"/>
                </a:solidFill>
                <a:latin typeface="Calibri"/>
                <a:ea typeface="Calibri"/>
                <a:cs typeface="Calibri"/>
                <a:sym typeface="Calibri"/>
              </a:rPr>
              <a:t>Comments exist, call count is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516368" y="5394960"/>
            <a:ext cx="4023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32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4326"/>
                </a:solidFill>
                <a:latin typeface="Calibri"/>
                <a:ea typeface="Calibri"/>
                <a:cs typeface="Calibri"/>
                <a:sym typeface="Calibri"/>
              </a:rPr>
              <a:t>A logging fault, not a person — reported separately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640080" y="411480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Built so a flag is worth acting 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0080" y="1215009"/>
            <a:ext cx="1088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50"/>
              <a:buFont typeface="Calibri"/>
              <a:buNone/>
            </a:pPr>
            <a:r>
              <a:rPr b="0" i="0" lang="en-US" sz="17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The failure mode isn’t being wrong. It’s being unfair once — after that, everyone ignores it.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0080" y="244602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6"/>
          <p:cNvSpPr/>
          <p:nvPr/>
        </p:nvSpPr>
        <p:spPr>
          <a:xfrm>
            <a:off x="640080" y="247345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70432" y="241858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Working hours only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70432" y="278434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The 10-minute clock runs 9 AM–7 PM. A 6:58 PM lead accrues 2 minutes, pauses, resumes at 9 AM. Nobody is flagged for hours nobody was working.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263640" y="244602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4" name="Google Shape;154;p6"/>
          <p:cNvSpPr/>
          <p:nvPr/>
        </p:nvSpPr>
        <p:spPr>
          <a:xfrm>
            <a:off x="6263640" y="247345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793992" y="241858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Three-hour grace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793992" y="278434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Nothing fires on a fresh lead. Only the 10-minute check is exempt — it exists to catch untouched leads, so a grace period would defeat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40080" y="386334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8" name="Google Shape;158;p6"/>
          <p:cNvSpPr/>
          <p:nvPr/>
        </p:nvSpPr>
        <p:spPr>
          <a:xfrm>
            <a:off x="640080" y="389077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70432" y="383590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Effort summed across copies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170432" y="420166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A lead goes to several RMs at once. Three RMs calling twice each before one claims it counts as six attempts on that customer, not two.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263640" y="386334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2" name="Google Shape;162;p6"/>
          <p:cNvSpPr/>
          <p:nvPr/>
        </p:nvSpPr>
        <p:spPr>
          <a:xfrm>
            <a:off x="6263640" y="389077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793992" y="383590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Systems faults kept separate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793992" y="420166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Comments proving work exists with a zero call count means the logging failed. Held outside the performance checks so nobody is blamed for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-1554480" y="4023360"/>
            <a:ext cx="4206240" cy="4206240"/>
          </a:xfrm>
          <a:prstGeom prst="ellipse">
            <a:avLst/>
          </a:prstGeom>
          <a:solidFill>
            <a:srgbClr val="35468C"/>
          </a:solidFill>
          <a:ln cap="flat" cmpd="sng" w="12700">
            <a:solidFill>
              <a:srgbClr val="354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0332720" y="-1188720"/>
            <a:ext cx="3657600" cy="3657600"/>
          </a:xfrm>
          <a:prstGeom prst="ellipse">
            <a:avLst/>
          </a:prstGeom>
          <a:solidFill>
            <a:srgbClr val="35468C"/>
          </a:solidFill>
          <a:ln cap="flat" cmpd="sng" w="12700">
            <a:solidFill>
              <a:srgbClr val="354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0" y="2331720"/>
            <a:ext cx="1216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0" y="3337560"/>
            <a:ext cx="1216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One question at each stage · Effort and conversion kept apart · Every flag verifiable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532120" y="3977640"/>
            <a:ext cx="1097280" cy="32004"/>
          </a:xfrm>
          <a:prstGeom prst="rect">
            <a:avLst/>
          </a:prstGeom>
          <a:solidFill>
            <a:srgbClr val="D2761F"/>
          </a:solidFill>
          <a:ln cap="flat" cmpd="sng" w="12700">
            <a:solidFill>
              <a:srgbClr val="D276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640080" y="411480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the 5 PM All-Issues email covers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0080" y="1215009"/>
            <a:ext cx="1088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50"/>
              <a:buFont typeface="Calibri"/>
              <a:buNone/>
            </a:pPr>
            <a:r>
              <a:rPr b="0" i="0" lang="en-US" sz="17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One daily email — every flagged lead names its check.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0080" y="244602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6"/>
          <p:cNvSpPr/>
          <p:nvPr/>
        </p:nvSpPr>
        <p:spPr>
          <a:xfrm>
            <a:off x="640080" y="247345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70432" y="241858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Scope: last 3 days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70432" y="278434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Google Non-UTM/Search leads assigned today, or either of the 2 days before.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263640" y="244602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4" name="Google Shape;154;p6"/>
          <p:cNvSpPr/>
          <p:nvPr/>
        </p:nvSpPr>
        <p:spPr>
          <a:xfrm>
            <a:off x="6263640" y="247345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793992" y="241858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Every check, named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793992" y="278434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Inactive-RM Lead Added · Not Updated · Follow-up Overdue · Behind on Today’s Calls · Stuck 48h+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40080" y="386334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8" name="Google Shape;158;p6"/>
          <p:cNvSpPr/>
          <p:nvPr/>
        </p:nvSpPr>
        <p:spPr>
          <a:xfrm>
            <a:off x="640080" y="389077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70432" y="383590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One email per manager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170432" y="420166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Routed via A1/TM/RH/CH — one region can send several emails.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263640" y="386334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2" name="Google Shape;162;p6"/>
          <p:cNvSpPr/>
          <p:nvPr/>
        </p:nvSpPr>
        <p:spPr>
          <a:xfrm>
            <a:off x="6263640" y="389077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793992" y="383590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Once a day, at 5 PM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793992" y="420166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A single daily pass across all 5 checks — no morning/afternoon split.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640080" y="411480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Overnight emails (10 AM + 1 PM)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0080" y="1215009"/>
            <a:ext cx="1088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50"/>
              <a:buFont typeface="Calibri"/>
              <a:buNone/>
            </a:pPr>
            <a:r>
              <a:rPr b="0" i="0" lang="en-US" sz="17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Two sends, one thread — morning snapshot, afternoon check.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0080" y="244602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6"/>
          <p:cNvSpPr/>
          <p:nvPr/>
        </p:nvSpPr>
        <p:spPr>
          <a:xfrm>
            <a:off x="640080" y="247345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70432" y="241858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Scope: overnight only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70432" y="278434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5 PM the day before through 9 AM — narrower than the 5 PM email’s 3-day window.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263640" y="244602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4" name="Google Shape;154;p6"/>
          <p:cNvSpPr/>
          <p:nvPr/>
        </p:nvSpPr>
        <p:spPr>
          <a:xfrm>
            <a:off x="6263640" y="247345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793992" y="241858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Converted leads excluded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793992" y="278434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Opportunity+ or closed overnight needs no follow-up.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40080" y="386334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8" name="Google Shape;158;p6"/>
          <p:cNvSpPr/>
          <p:nvPr/>
        </p:nvSpPr>
        <p:spPr>
          <a:xfrm>
            <a:off x="640080" y="389077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70432" y="383590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10 AM: status, not a check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170432" y="420166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Current stage + a suggested follow-up — the SOP check isn’t named yet.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263640" y="3863340"/>
            <a:ext cx="384000" cy="3840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2" name="Google Shape;162;p6"/>
          <p:cNvSpPr/>
          <p:nvPr/>
        </p:nvSpPr>
        <p:spPr>
          <a:xfrm>
            <a:off x="6263640" y="3890772"/>
            <a:ext cx="38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793992" y="3835908"/>
            <a:ext cx="4846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 PM: names the check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793992" y="4201668"/>
            <a:ext cx="484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“Still Unresolved” lists exactly which check is still open.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